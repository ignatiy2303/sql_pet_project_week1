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56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21BCA-40B4-49C2-923F-35505A726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E39AE7-9C33-4D89-AA68-F812BC6DC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B59C0C-B9CD-4214-8BC0-B2119763A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AB350-3644-4B75-A0CE-722F7871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E5E42-B19B-4B53-8431-601FD8B4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797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1B34C-8428-4CE1-AC3C-E7590D44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15EDDE-EF10-4E3F-B50B-3B11627D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03495-1FE8-4FEC-A9C5-0A13C8CB5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24BB7C-8B4C-44D8-9793-3F47B0D9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899A32-95FC-417F-80EB-DC88634E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12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A1C25-8956-49E8-AAD4-224DF3EE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21675A-9C6F-487F-8510-EA30D489A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AD6647-2D4E-434B-9257-2694638D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936A27-6C95-44C8-BA31-ACF47C54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5C336B-1BF7-46CC-A60A-8CA66672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86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E8BDB-8424-448E-BDDE-CF58D681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D40A9-EBB8-4794-A7C0-AF0F1817E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CA373D-1BDE-4F22-9F5F-52D0C947D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E329F7-71AA-41DA-946A-18AF8040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A4968-EDDB-44D0-959B-91FAA6A6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A0FC9D-A2D1-46D1-8252-83ED2C99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14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CDB57-7FCC-4DD7-A638-6C806C3B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258604-30CB-4E50-8666-F4B0D31B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A43449-40B6-438C-A7BA-1A2AFB4F7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C2C5590-F4B0-4F76-A66D-E38C2ABAC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59D42D1-38E8-4A04-A21B-44D6B631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7F69B5-1B4E-4186-ADB1-F0F56A96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329B1AC-1A44-4805-A67F-BC72038A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A04752-69CB-434C-B8AD-080A793B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38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D9304-0884-4900-8454-FBA64824F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BC2C193-C31D-4FD6-8937-5CF55574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6B0DF4-05AC-4288-AB03-EE4ED6B8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E50641-44BC-45E9-85A2-F57567B2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12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422725-BBF1-48E6-9E52-FB1D5B44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E4467D-65F6-4F16-8FE7-02EB6A75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2992D4-4391-487E-8BCF-2C81CF92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21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3BE26-1060-4E23-8381-037ACFB3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57AD4E-73E9-4B33-AA5B-5C2CB6C90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517B9E-0E83-4A7D-8F2E-CE79017CA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6CB421-4E3C-4DCA-B273-ACBBB14C1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4538B5-CBC4-43F2-A1C7-F8B14D85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81E18-0A72-4F4F-A0F6-4F7BA0532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11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0C066-C78E-4A4C-AD03-520808FA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35034F0-FFC3-4395-9345-CA9ED6D6D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8F4488-78F8-4F2E-B248-0C85D8629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7A05CA-4F99-4577-9F7D-CB9DB1B4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414A2-85AB-4E77-86D5-121E00759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261B09-7522-45FD-9CAC-6EF2EA31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55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C48BE-130C-4322-9EDD-980D4280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39108E-F13A-4424-BE8A-60D7E43AC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FC0272-EA40-4880-8337-73D97789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F40869-A316-4D0F-8522-275F9FAAD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646D1B-D3B0-4E96-A89F-B6DAFAE7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44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DC3C2E6-BA0E-48EE-B7DD-EA6FDF0A4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0DFEC5-DFB3-457A-AC87-543CCE8D0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E82AF1-463E-45AA-90C4-0D5C963B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8626F4-8FF9-4EFC-8285-F62EF16E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7322BE-3EDE-4560-BBD5-3FA7B8E1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29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9176D-8232-4DEA-BDBE-92192A5C1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690195-6887-43F6-B4AF-9064C94A8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1E873C-8FD7-4A30-9D14-0D17A484E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DB63D-EA60-474C-9181-455359247902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131876-EB6C-4A15-9E2A-BA5CF1D7E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C0F451-E949-4830-8A1B-87D44A6ED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169B9-8CE0-4599-8268-5D453CB31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6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358888-7460-40BE-8A75-7C2017B1AE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09"/>
          <a:stretch/>
        </p:blipFill>
        <p:spPr>
          <a:xfrm>
            <a:off x="0" y="851654"/>
            <a:ext cx="12192000" cy="600635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8DEB8-D9C7-4130-A0F8-D6042760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165" y="0"/>
            <a:ext cx="10515600" cy="1325563"/>
          </a:xfrm>
        </p:spPr>
        <p:txBody>
          <a:bodyPr/>
          <a:lstStyle/>
          <a:p>
            <a:r>
              <a:rPr lang="ru-RU" dirty="0"/>
              <a:t>Концептуальная модель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8B261-51B6-4371-A987-47F7F84D5EDF}"/>
              </a:ext>
            </a:extLst>
          </p:cNvPr>
          <p:cNvSpPr txBox="1"/>
          <p:nvPr/>
        </p:nvSpPr>
        <p:spPr>
          <a:xfrm>
            <a:off x="2115671" y="3003177"/>
            <a:ext cx="331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1</a:t>
            </a:r>
          </a:p>
          <a:p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C372C6-BD88-4AA5-91B2-42D72E2BC6AB}"/>
              </a:ext>
            </a:extLst>
          </p:cNvPr>
          <p:cNvSpPr txBox="1"/>
          <p:nvPr/>
        </p:nvSpPr>
        <p:spPr>
          <a:xfrm>
            <a:off x="6589060" y="4518212"/>
            <a:ext cx="331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1</a:t>
            </a:r>
          </a:p>
          <a:p>
            <a:endParaRPr lang="ru-RU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62220-4814-49DC-90A0-08FBE4040A17}"/>
              </a:ext>
            </a:extLst>
          </p:cNvPr>
          <p:cNvSpPr txBox="1"/>
          <p:nvPr/>
        </p:nvSpPr>
        <p:spPr>
          <a:xfrm>
            <a:off x="9771531" y="5289177"/>
            <a:ext cx="331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1</a:t>
            </a:r>
          </a:p>
          <a:p>
            <a:endParaRPr lang="ru-RU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BB025-48CC-4A9B-A47E-419947E4EEE9}"/>
              </a:ext>
            </a:extLst>
          </p:cNvPr>
          <p:cNvSpPr txBox="1"/>
          <p:nvPr/>
        </p:nvSpPr>
        <p:spPr>
          <a:xfrm>
            <a:off x="2505639" y="5289177"/>
            <a:ext cx="331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1</a:t>
            </a:r>
          </a:p>
          <a:p>
            <a:endParaRPr lang="ru-RU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E131A-59A5-4DF8-B25A-4C99B0B14223}"/>
              </a:ext>
            </a:extLst>
          </p:cNvPr>
          <p:cNvSpPr txBox="1"/>
          <p:nvPr/>
        </p:nvSpPr>
        <p:spPr>
          <a:xfrm>
            <a:off x="2236693" y="4143336"/>
            <a:ext cx="66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0</a:t>
            </a:r>
            <a:r>
              <a:rPr lang="en-US" sz="1400" dirty="0"/>
              <a:t>..N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446AD-3616-4CC0-A94F-D5520CB95E57}"/>
              </a:ext>
            </a:extLst>
          </p:cNvPr>
          <p:cNvSpPr txBox="1"/>
          <p:nvPr/>
        </p:nvSpPr>
        <p:spPr>
          <a:xfrm>
            <a:off x="4334434" y="4817323"/>
            <a:ext cx="66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0</a:t>
            </a:r>
            <a:r>
              <a:rPr lang="en-US" sz="1400" dirty="0"/>
              <a:t>..1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4F887-17AD-4BC1-ACC0-7142E4FC6FAE}"/>
              </a:ext>
            </a:extLst>
          </p:cNvPr>
          <p:cNvSpPr txBox="1"/>
          <p:nvPr/>
        </p:nvSpPr>
        <p:spPr>
          <a:xfrm>
            <a:off x="4271681" y="1982202"/>
            <a:ext cx="66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9123A-61D4-46E2-9420-D3BF6447EA89}"/>
              </a:ext>
            </a:extLst>
          </p:cNvPr>
          <p:cNvSpPr txBox="1"/>
          <p:nvPr/>
        </p:nvSpPr>
        <p:spPr>
          <a:xfrm>
            <a:off x="7463116" y="2933676"/>
            <a:ext cx="32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DBE97D-4000-431C-8D0A-C0751D646AF5}"/>
              </a:ext>
            </a:extLst>
          </p:cNvPr>
          <p:cNvSpPr txBox="1"/>
          <p:nvPr/>
        </p:nvSpPr>
        <p:spPr>
          <a:xfrm>
            <a:off x="7463115" y="3295750"/>
            <a:ext cx="32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D114CC-566A-4493-943E-01CE7C2A5BAE}"/>
              </a:ext>
            </a:extLst>
          </p:cNvPr>
          <p:cNvSpPr txBox="1"/>
          <p:nvPr/>
        </p:nvSpPr>
        <p:spPr>
          <a:xfrm>
            <a:off x="7467596" y="5644503"/>
            <a:ext cx="32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CB188D-B018-48A4-8C42-25ED888A6120}"/>
              </a:ext>
            </a:extLst>
          </p:cNvPr>
          <p:cNvSpPr txBox="1"/>
          <p:nvPr/>
        </p:nvSpPr>
        <p:spPr>
          <a:xfrm>
            <a:off x="7463114" y="5989645"/>
            <a:ext cx="32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163AB7-D15C-47F5-8C5A-DE1BB2E9F9D9}"/>
              </a:ext>
            </a:extLst>
          </p:cNvPr>
          <p:cNvSpPr txBox="1"/>
          <p:nvPr/>
        </p:nvSpPr>
        <p:spPr>
          <a:xfrm>
            <a:off x="7463114" y="6334780"/>
            <a:ext cx="32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52B9B1-FF97-4007-954B-A7978946821C}"/>
              </a:ext>
            </a:extLst>
          </p:cNvPr>
          <p:cNvSpPr txBox="1"/>
          <p:nvPr/>
        </p:nvSpPr>
        <p:spPr>
          <a:xfrm>
            <a:off x="9381561" y="3597700"/>
            <a:ext cx="32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F409C5-58E8-467D-BEA0-2B69A7078F86}"/>
              </a:ext>
            </a:extLst>
          </p:cNvPr>
          <p:cNvSpPr txBox="1"/>
          <p:nvPr/>
        </p:nvSpPr>
        <p:spPr>
          <a:xfrm>
            <a:off x="11300007" y="3994992"/>
            <a:ext cx="32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  <a:endParaRPr lang="ru-RU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2044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B2598-1632-4DCB-A8A6-028AB3454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Логическая модель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23D64C-D401-4665-933A-3B8FA55A7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282"/>
            <a:ext cx="2608729" cy="31813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86DA63-A73F-4C76-8486-2409D2947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435" y="1306282"/>
            <a:ext cx="2766834" cy="31659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BC3970-C436-49A3-89F3-56AD0904A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975" y="1306282"/>
            <a:ext cx="2766834" cy="31620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8122F2-68ED-4149-A023-7E732A6EE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515" y="1306282"/>
            <a:ext cx="3444485" cy="29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2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05CD5-5992-4342-9F60-474BD69C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0912C6-C503-47DB-95A0-081900BA5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79" y="1426216"/>
            <a:ext cx="2268190" cy="31938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B45381-E05E-4D0F-826F-CB0CDF98A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439" y="1413987"/>
            <a:ext cx="3191733" cy="246058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922EF9-663B-42F0-AA5E-776D95A2E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242" y="1416649"/>
            <a:ext cx="2392012" cy="334627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DB63BC-A1E4-451F-B278-13CF76F9B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562" y="1413987"/>
            <a:ext cx="2833461" cy="2969754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04081236-6735-4650-A076-FE78E4A40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15" y="4620088"/>
            <a:ext cx="11521431" cy="2318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Почему </a:t>
            </a:r>
            <a:r>
              <a:rPr lang="en-US" dirty="0"/>
              <a:t>SCD 2:</a:t>
            </a:r>
          </a:p>
          <a:p>
            <a:pPr marL="0" indent="0">
              <a:buNone/>
            </a:pPr>
            <a:r>
              <a:rPr lang="ru-RU" dirty="0"/>
              <a:t>Стоимость игрока изменяется со временем =</a:t>
            </a:r>
            <a:r>
              <a:rPr lang="en-US" dirty="0"/>
              <a:t>&gt;</a:t>
            </a:r>
            <a:r>
              <a:rPr lang="ru-RU" dirty="0"/>
              <a:t> нам нужно сохранять историю изменений, т.е. прошлые данные. При изменении стоимости старая запись закрывается (</a:t>
            </a:r>
            <a:r>
              <a:rPr lang="en-US" dirty="0" err="1"/>
              <a:t>valid_to</a:t>
            </a:r>
            <a:r>
              <a:rPr lang="en-US" dirty="0"/>
              <a:t>), </a:t>
            </a:r>
            <a:r>
              <a:rPr lang="ru-RU" dirty="0"/>
              <a:t>а новая создается (</a:t>
            </a:r>
            <a:r>
              <a:rPr lang="en-US" dirty="0" err="1"/>
              <a:t>valid_from</a:t>
            </a:r>
            <a:r>
              <a:rPr lang="en-US" dirty="0"/>
              <a:t>)</a:t>
            </a:r>
            <a:r>
              <a:rPr lang="ru-RU" dirty="0"/>
              <a:t> и становится текущей (</a:t>
            </a:r>
            <a:r>
              <a:rPr lang="en-US" dirty="0" err="1"/>
              <a:t>is_current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E4C02A-0D5B-4C8C-835C-1250C09E1EDB}"/>
              </a:ext>
            </a:extLst>
          </p:cNvPr>
          <p:cNvSpPr txBox="1"/>
          <p:nvPr/>
        </p:nvSpPr>
        <p:spPr>
          <a:xfrm>
            <a:off x="11118355" y="1413987"/>
            <a:ext cx="887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*SCD 2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67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25653A4-F063-4089-BB2E-3B30336BC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Почему 3НФ:</a:t>
            </a:r>
          </a:p>
          <a:p>
            <a:r>
              <a:rPr lang="ru-RU" dirty="0"/>
              <a:t>Уменьшает дублирование данных</a:t>
            </a:r>
          </a:p>
          <a:p>
            <a:r>
              <a:rPr lang="ru-RU" dirty="0"/>
              <a:t>Снижает риск аномалий вставки, обновления и удаления</a:t>
            </a:r>
          </a:p>
          <a:p>
            <a:r>
              <a:rPr lang="ru-RU" dirty="0"/>
              <a:t>Удобно для наших 8 таблиц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8D9D2-08A9-4A15-875D-212141CA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Нормализация  3НФ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8B2DA4A-C15E-4FA5-B465-32B693DCC871}"/>
              </a:ext>
            </a:extLst>
          </p:cNvPr>
          <p:cNvSpPr txBox="1">
            <a:spLocks/>
          </p:cNvSpPr>
          <p:nvPr/>
        </p:nvSpPr>
        <p:spPr>
          <a:xfrm>
            <a:off x="6095999" y="1825625"/>
            <a:ext cx="57643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Пример 1: </a:t>
            </a:r>
            <a:r>
              <a:rPr lang="en-US" dirty="0" err="1"/>
              <a:t>Football_clubs</a:t>
            </a:r>
            <a:r>
              <a:rPr lang="en-US" dirty="0"/>
              <a:t> -&gt; Stadiums</a:t>
            </a:r>
            <a:endParaRPr lang="ru-RU" dirty="0"/>
          </a:p>
          <a:p>
            <a:r>
              <a:rPr lang="ru-RU" dirty="0"/>
              <a:t>Сведения о стадионе вынесены отдельно (</a:t>
            </a:r>
            <a:r>
              <a:rPr lang="en-US" dirty="0" err="1"/>
              <a:t>club_id</a:t>
            </a:r>
            <a:r>
              <a:rPr lang="en-US" dirty="0"/>
              <a:t> -&gt; </a:t>
            </a:r>
            <a:r>
              <a:rPr lang="en-US" dirty="0" err="1"/>
              <a:t>stadium_id</a:t>
            </a:r>
            <a:r>
              <a:rPr lang="en-US" dirty="0"/>
              <a:t>; </a:t>
            </a:r>
            <a:r>
              <a:rPr lang="en-US" dirty="0" err="1"/>
              <a:t>stadium_id</a:t>
            </a:r>
            <a:r>
              <a:rPr lang="en-US" dirty="0"/>
              <a:t> -&gt; name, city, capacity </a:t>
            </a:r>
            <a:r>
              <a:rPr lang="ru-RU" dirty="0"/>
              <a:t>и </a:t>
            </a:r>
            <a:r>
              <a:rPr lang="ru-RU" dirty="0" err="1"/>
              <a:t>тд</a:t>
            </a:r>
            <a:r>
              <a:rPr lang="ru-RU" dirty="0"/>
              <a:t>.)</a:t>
            </a:r>
          </a:p>
          <a:p>
            <a:pPr marL="0" indent="0">
              <a:buNone/>
            </a:pPr>
            <a:r>
              <a:rPr lang="ru-RU" dirty="0"/>
              <a:t>Пример 2:</a:t>
            </a:r>
            <a:r>
              <a:rPr lang="en-US" dirty="0"/>
              <a:t> </a:t>
            </a:r>
            <a:r>
              <a:rPr lang="en-US" dirty="0" err="1"/>
              <a:t>Match_players</a:t>
            </a:r>
            <a:endParaRPr lang="en-US" dirty="0"/>
          </a:p>
          <a:p>
            <a:r>
              <a:rPr lang="ru-RU" dirty="0"/>
              <a:t>Составной ключ (</a:t>
            </a:r>
            <a:r>
              <a:rPr lang="en-US" dirty="0" err="1"/>
              <a:t>player_id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match_id</a:t>
            </a:r>
            <a:r>
              <a:rPr lang="en-US" dirty="0"/>
              <a:t>) =&gt; </a:t>
            </a:r>
            <a:r>
              <a:rPr lang="ru-RU" dirty="0"/>
              <a:t>статистика зависит от всей пары, а не только от чего то одного.</a:t>
            </a:r>
          </a:p>
          <a:p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3537FCC-97A9-414A-8B37-912CA8F2B00C}"/>
              </a:ext>
            </a:extLst>
          </p:cNvPr>
          <p:cNvCxnSpPr>
            <a:cxnSpLocks/>
          </p:cNvCxnSpPr>
          <p:nvPr/>
        </p:nvCxnSpPr>
        <p:spPr>
          <a:xfrm>
            <a:off x="5809126" y="1556219"/>
            <a:ext cx="1" cy="477286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03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E63E3AF-233B-46BA-A688-617FA755DA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38"/>
          <a:stretch/>
        </p:blipFill>
        <p:spPr>
          <a:xfrm>
            <a:off x="604527" y="277906"/>
            <a:ext cx="11108453" cy="6437072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26BBABF-1E45-49DC-876E-D324C7313B64}"/>
              </a:ext>
            </a:extLst>
          </p:cNvPr>
          <p:cNvSpPr/>
          <p:nvPr/>
        </p:nvSpPr>
        <p:spPr>
          <a:xfrm>
            <a:off x="9403080" y="5303520"/>
            <a:ext cx="2247900" cy="15544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CF115E-E2B7-490F-9858-04B9EEC18DC5}"/>
              </a:ext>
            </a:extLst>
          </p:cNvPr>
          <p:cNvSpPr txBox="1"/>
          <p:nvPr/>
        </p:nvSpPr>
        <p:spPr>
          <a:xfrm>
            <a:off x="9479280" y="5303520"/>
            <a:ext cx="133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9067FE7-1AE3-4C29-8641-415956CCF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860" y="5672852"/>
            <a:ext cx="201176" cy="20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24B488-D486-475D-94ED-D06E09FE655F}"/>
              </a:ext>
            </a:extLst>
          </p:cNvPr>
          <p:cNvSpPr txBox="1"/>
          <p:nvPr/>
        </p:nvSpPr>
        <p:spPr>
          <a:xfrm>
            <a:off x="9745603" y="5619551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Primary key</a:t>
            </a:r>
            <a:endParaRPr lang="ru-RU" sz="1200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E7076F3-608A-46E5-BC40-8B9EC4E7B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354" y="5939090"/>
            <a:ext cx="206188" cy="20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22AD6E-728F-45EF-957D-1A8A18140CCB}"/>
              </a:ext>
            </a:extLst>
          </p:cNvPr>
          <p:cNvSpPr txBox="1"/>
          <p:nvPr/>
        </p:nvSpPr>
        <p:spPr>
          <a:xfrm>
            <a:off x="9744849" y="5903684"/>
            <a:ext cx="978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Foreign key</a:t>
            </a:r>
            <a:endParaRPr lang="ru-RU" sz="12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0432D0C-BA3E-459A-908B-FE393440F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915" y="6189200"/>
            <a:ext cx="241627" cy="2061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54EF2F2-46AE-4CCA-B88E-F8EFEB7EEBE3}"/>
              </a:ext>
            </a:extLst>
          </p:cNvPr>
          <p:cNvSpPr txBox="1"/>
          <p:nvPr/>
        </p:nvSpPr>
        <p:spPr>
          <a:xfrm>
            <a:off x="9744095" y="6151517"/>
            <a:ext cx="110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 NULL</a:t>
            </a:r>
            <a:endParaRPr lang="ru-RU" sz="12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AAA7054-8DCC-43EB-9A2C-16A178A418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4345" y="3587551"/>
            <a:ext cx="101175" cy="13381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53D9829-A6A3-40F8-9DC6-F9637DAA27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115" y="3829486"/>
            <a:ext cx="101175" cy="13381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EE9D03C-BF9C-4B65-A811-0C23CF7BB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4345" y="4071421"/>
            <a:ext cx="101175" cy="133812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8E71A9C-DF2D-4C5F-9642-4DB63E3DA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7720" y="4311451"/>
            <a:ext cx="101175" cy="13381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1C01D83-112F-4F7D-8FE9-C25C72B9A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370" y="4553386"/>
            <a:ext cx="101175" cy="133812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EAE06B7-1628-4618-8EC4-117BE4E551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2620" y="6369528"/>
            <a:ext cx="206967" cy="2737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A009682-0BE9-4FEE-949D-02CF9AAA2D3E}"/>
              </a:ext>
            </a:extLst>
          </p:cNvPr>
          <p:cNvSpPr txBox="1"/>
          <p:nvPr/>
        </p:nvSpPr>
        <p:spPr>
          <a:xfrm>
            <a:off x="9747151" y="6368736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Default</a:t>
            </a:r>
            <a:endParaRPr lang="ru-RU" sz="1200" dirty="0"/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B9CF7BF1-6D7C-4814-A660-1D3295F7A03F}"/>
              </a:ext>
            </a:extLst>
          </p:cNvPr>
          <p:cNvSpPr txBox="1">
            <a:spLocks/>
          </p:cNvSpPr>
          <p:nvPr/>
        </p:nvSpPr>
        <p:spPr>
          <a:xfrm>
            <a:off x="-27047" y="31136"/>
            <a:ext cx="10515600" cy="86295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400" dirty="0"/>
              <a:t>Физическая</a:t>
            </a:r>
            <a:r>
              <a:rPr lang="ru-RU" dirty="0"/>
              <a:t> </a:t>
            </a:r>
            <a:r>
              <a:rPr lang="ru-RU" sz="4400" dirty="0"/>
              <a:t>модель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5112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175</Words>
  <Application>Microsoft Office PowerPoint</Application>
  <PresentationFormat>Широкоэкранный</PresentationFormat>
  <Paragraphs>35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Концептуальная модель</vt:lpstr>
      <vt:lpstr>Логическая модель</vt:lpstr>
      <vt:lpstr>Логическая модель</vt:lpstr>
      <vt:lpstr>Нормализация  3НФ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Игнатий Подъячев</dc:creator>
  <cp:lastModifiedBy>Игнатий Подъячев</cp:lastModifiedBy>
  <cp:revision>11</cp:revision>
  <dcterms:created xsi:type="dcterms:W3CDTF">2026-10-04T10:11:55Z</dcterms:created>
  <dcterms:modified xsi:type="dcterms:W3CDTF">2026-10-05T19:40:34Z</dcterms:modified>
</cp:coreProperties>
</file>